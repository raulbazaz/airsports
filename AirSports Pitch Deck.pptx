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20"/>
  </p:sldIdLst>
  <p:sldSz cx="9144000" cy="5143500" type="screen16x9"/>
  <p:notesSz cx="6858000" cy="9144000"/>
  <p:embeddedFontLst>
    <p:embeddedFont>
      <p:font typeface="Lexend" panose="020B0604020202020204" charset="0"/>
      <p:regular r:id="rId12"/>
      <p:bold r:id="rId13"/>
    </p:embeddedFont>
    <p:embeddedFont>
      <p:font typeface="Lexend Medium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2E475D"/>
                </a:solidFill>
                <a:latin typeface="Lexend"/>
              </a:rPr>
              <a:t>Motion-sensing games market ($B)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Motion-sensing games market ($B)</c:v>
                </c:pt>
              </c:strCache>
            </c:strRef>
          </c:tx>
          <c:spPr>
            <a:solidFill>
              <a:srgbClr val="FF5C35"/>
            </a:solidFill>
          </c:spPr>
          <c:dPt>
            <c:idx val="0"/>
            <c:spPr>
              <a:solidFill>
                <a:srgbClr val="B0CFE5"/>
              </a:solidFill>
            </c:spPr>
          </c:dPt>
          <c:dPt>
            <c:idx val="1"/>
            <c:spPr>
              <a:solidFill>
                <a:srgbClr val="FF5C35"/>
              </a:solidFill>
            </c:spPr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2033 (projected)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12.8</c:v>
                </c:pt>
                <c:pt idx="1">
                  <c:v>41.4</c:v>
                </c:pt>
              </c:numCache>
            </c:numRef>
          </c:val>
        </c:ser>
        <c:dLbls>
          <c:numFmt formatCode="&quot;$&quot;0.0&quot;B&quot;" sourceLinked="0"/>
          <c:txPr>
            <a:bodyPr/>
            <a:lstStyle/>
            <a:p>
              <a:pPr>
                <a:defRPr sz="1400" b="1">
                  <a:solidFill>
                    <a:srgbClr val="2E475D"/>
                  </a:solidFill>
                  <a:latin typeface="Lexen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E475D"/>
            </a:solidFill>
          </a:ln>
        </c:spPr>
        <c:txPr>
          <a:bodyPr/>
          <a:lstStyle/>
          <a:p>
            <a:pPr>
              <a:defRPr sz="1100">
                <a:solidFill>
                  <a:srgbClr val="2E475D"/>
                </a:solidFill>
                <a:latin typeface="Lexen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cfafbc24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cfafbc24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Hi, I'm Rahul. AirSports turns any screen into a sports console and your phone into the racquet. Keep the game open in another tab for the live demo.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0591d162e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40591d162e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Ask the room: who has played Wii Sports? Who owns a Wii or Kinect today? That gap is the problem.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0591d162e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40591d162e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The whole setup takes about ten seconds. This is the moment to show the QR code join live if you can.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0591d162e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40591d162e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500 million Indian gamers are already on their phones. We don't need to sell them hardware; we turn the phone they own into the controller.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40591d162e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40591d162e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Left: the phone after scanning the QR code. Behind it: a two-player split-screen match on the TV.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0591d162e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40591d162e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The court walls already carry the AirSports logo. Those exact boards can carry a sponsor's brand.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0591d162e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40591d162e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Fill in the playtest numbers before presenting. Then invite a shark to scan the QR code and play.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40591d162e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40591d162e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Be honest about the weaknesses; the sharks will ask. Our edge is zero hardware and zero install.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0591d162e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0591d162e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Add your photo in the circle. Say what you built yourself and who you'd like to work with.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Leave this up during Q&amp;A so people can scan and play.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bg>
      <p:bgPr>
        <a:solidFill>
          <a:srgbClr val="B0CFE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80700" y="1835101"/>
            <a:ext cx="6331500" cy="16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800"/>
              <a:buFont typeface="Lexend Medium"/>
              <a:buNone/>
              <a:defRPr sz="4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80700" y="3882325"/>
            <a:ext cx="6331500" cy="5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000"/>
              <a:buFont typeface="Lexend Medium"/>
              <a:buNone/>
              <a:defRPr sz="20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 Medium"/>
              <a:buNone/>
              <a:defRPr sz="18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556900" y="3736650"/>
            <a:ext cx="6629100" cy="0"/>
          </a:xfrm>
          <a:prstGeom prst="straightConnector1">
            <a:avLst/>
          </a:prstGeom>
          <a:noFill/>
          <a:ln w="19050" cap="flat" cmpd="sng">
            <a:solidFill>
              <a:srgbClr val="2E475D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2">
  <p:cSld name="SECTION_HEADER_2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911100"/>
          </a:xfrm>
          <a:prstGeom prst="rect">
            <a:avLst/>
          </a:prstGeom>
          <a:solidFill>
            <a:srgbClr val="2E47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exend Medium"/>
              <a:buNone/>
              <a:defRPr sz="3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7973400" cy="3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>
                <a:solidFill>
                  <a:srgbClr val="2E475D"/>
                </a:solidFill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2 2">
  <p:cSld name="SECTION_HEADER_2_1_4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3000"/>
              <a:buFont typeface="Lexend Medium"/>
              <a:buNone/>
              <a:defRPr sz="30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5C35"/>
              </a:buClr>
              <a:buSzPts val="4500"/>
              <a:buFont typeface="Lexend"/>
              <a:buNone/>
              <a:defRPr sz="4500" b="1">
                <a:solidFill>
                  <a:srgbClr val="FF5C3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7973400" cy="3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>
                <a:solidFill>
                  <a:srgbClr val="2E475D"/>
                </a:solidFill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2 1">
  <p:cSld name="SECTION_HEADER_2_1_3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0" y="0"/>
            <a:ext cx="9144000" cy="911100"/>
          </a:xfrm>
          <a:prstGeom prst="rect">
            <a:avLst/>
          </a:prstGeom>
          <a:solidFill>
            <a:srgbClr val="2E47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exend Medium"/>
              <a:buNone/>
              <a:defRPr sz="3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3796800" cy="3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>
                <a:solidFill>
                  <a:srgbClr val="2E475D"/>
                </a:solidFill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4675275" y="1042700"/>
            <a:ext cx="3796800" cy="3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>
                <a:solidFill>
                  <a:srgbClr val="2E475D"/>
                </a:solidFill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5">
  <p:cSld name="SECTION_HEADER_2_1_1_2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E47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486150" y="1061850"/>
            <a:ext cx="29859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3000"/>
              <a:buFont typeface="Lexend Medium"/>
              <a:buNone/>
              <a:defRPr sz="30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486150" y="1776125"/>
            <a:ext cx="29859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>
                <a:solidFill>
                  <a:srgbClr val="2E475D"/>
                </a:solidFill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●"/>
              <a:defRPr sz="1800">
                <a:solidFill>
                  <a:srgbClr val="2E475D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○"/>
              <a:defRPr sz="1800">
                <a:solidFill>
                  <a:srgbClr val="2E475D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Char char="■"/>
              <a:defRPr sz="1800"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0"/>
          <p:cNvSpPr/>
          <p:nvPr/>
        </p:nvSpPr>
        <p:spPr>
          <a:xfrm>
            <a:off x="4008900" y="478650"/>
            <a:ext cx="1126200" cy="1126200"/>
          </a:xfrm>
          <a:prstGeom prst="ellipse">
            <a:avLst/>
          </a:prstGeom>
          <a:solidFill>
            <a:srgbClr val="B0CF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/>
          <p:nvPr/>
        </p:nvSpPr>
        <p:spPr>
          <a:xfrm>
            <a:off x="4008900" y="2008650"/>
            <a:ext cx="1126200" cy="1126200"/>
          </a:xfrm>
          <a:prstGeom prst="ellipse">
            <a:avLst/>
          </a:prstGeom>
          <a:solidFill>
            <a:srgbClr val="FF5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4008900" y="3538650"/>
            <a:ext cx="1126200" cy="1126200"/>
          </a:xfrm>
          <a:prstGeom prst="ellipse">
            <a:avLst/>
          </a:prstGeom>
          <a:solidFill>
            <a:srgbClr val="B0CF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5432125" y="700500"/>
            <a:ext cx="29859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3"/>
          </p:nvPr>
        </p:nvSpPr>
        <p:spPr>
          <a:xfrm>
            <a:off x="5432125" y="2230500"/>
            <a:ext cx="29859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4"/>
          </p:nvPr>
        </p:nvSpPr>
        <p:spPr>
          <a:xfrm>
            <a:off x="5432125" y="3760500"/>
            <a:ext cx="29859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6">
  <p:cSld name="SECTION_HEADER_2_1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0CF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1"/>
          <p:cNvSpPr>
            <a:spLocks noGrp="1"/>
          </p:cNvSpPr>
          <p:nvPr>
            <p:ph type="pic" idx="2"/>
          </p:nvPr>
        </p:nvSpPr>
        <p:spPr>
          <a:xfrm>
            <a:off x="4911300" y="665700"/>
            <a:ext cx="3980400" cy="37701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1"/>
          <p:cNvSpPr/>
          <p:nvPr/>
        </p:nvSpPr>
        <p:spPr>
          <a:xfrm>
            <a:off x="0" y="665700"/>
            <a:ext cx="4911300" cy="3770100"/>
          </a:xfrm>
          <a:prstGeom prst="rect">
            <a:avLst/>
          </a:prstGeom>
          <a:solidFill>
            <a:srgbClr val="2E47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8891700" y="665700"/>
            <a:ext cx="252300" cy="3770100"/>
          </a:xfrm>
          <a:prstGeom prst="rect">
            <a:avLst/>
          </a:prstGeom>
          <a:solidFill>
            <a:srgbClr val="2E47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334700" y="1248850"/>
            <a:ext cx="41502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exend Medium"/>
              <a:buNone/>
              <a:defRPr sz="3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Lexend"/>
              <a:buNone/>
              <a:defRPr sz="45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334700" y="2083050"/>
            <a:ext cx="41502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68" name="Google Shape;68;p11"/>
          <p:cNvCxnSpPr/>
          <p:nvPr/>
        </p:nvCxnSpPr>
        <p:spPr>
          <a:xfrm>
            <a:off x="334700" y="1969100"/>
            <a:ext cx="41478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8">
  <p:cSld name="SECTION_HEADER_2_1_1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Layout 1">
  <p:cSld name="CUSTOM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3140000" y="203325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200"/>
              <a:buNone/>
              <a:defRPr sz="1200">
                <a:solidFill>
                  <a:srgbClr val="2E47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cxnSp>
        <p:nvCxnSpPr>
          <p:cNvPr id="82" name="Google Shape;82;p14"/>
          <p:cNvCxnSpPr/>
          <p:nvPr/>
        </p:nvCxnSpPr>
        <p:spPr>
          <a:xfrm>
            <a:off x="3121100" y="2033250"/>
            <a:ext cx="17169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170125" y="4645100"/>
            <a:ext cx="620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 rtl="0">
              <a:buNone/>
              <a:defRPr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0" y="0"/>
            <a:ext cx="2771700" cy="5143500"/>
          </a:xfrm>
          <a:prstGeom prst="rect">
            <a:avLst/>
          </a:prstGeom>
          <a:solidFill>
            <a:srgbClr val="B0CF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2"/>
          </p:nvPr>
        </p:nvSpPr>
        <p:spPr>
          <a:xfrm>
            <a:off x="334700" y="571725"/>
            <a:ext cx="2157300" cy="193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3000"/>
              <a:buFont typeface="Lexend Medium"/>
              <a:buNone/>
              <a:defRPr sz="30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4500"/>
              <a:buFont typeface="Lexend"/>
              <a:buNone/>
              <a:defRPr sz="4500" b="1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86" name="Google Shape;86;p14"/>
          <p:cNvSpPr>
            <a:spLocks noGrp="1"/>
          </p:cNvSpPr>
          <p:nvPr>
            <p:ph type="pic" idx="3"/>
          </p:nvPr>
        </p:nvSpPr>
        <p:spPr>
          <a:xfrm>
            <a:off x="3265400" y="418075"/>
            <a:ext cx="1428300" cy="142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14"/>
          <p:cNvSpPr txBox="1">
            <a:spLocks noGrp="1"/>
          </p:cNvSpPr>
          <p:nvPr>
            <p:ph type="title" idx="4"/>
          </p:nvPr>
        </p:nvSpPr>
        <p:spPr>
          <a:xfrm>
            <a:off x="5026100" y="203325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200"/>
              <a:buNone/>
              <a:defRPr sz="1200">
                <a:solidFill>
                  <a:srgbClr val="2E47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cxnSp>
        <p:nvCxnSpPr>
          <p:cNvPr id="88" name="Google Shape;88;p14"/>
          <p:cNvCxnSpPr/>
          <p:nvPr/>
        </p:nvCxnSpPr>
        <p:spPr>
          <a:xfrm>
            <a:off x="5007200" y="2033250"/>
            <a:ext cx="17169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89;p14"/>
          <p:cNvSpPr>
            <a:spLocks noGrp="1"/>
          </p:cNvSpPr>
          <p:nvPr>
            <p:ph type="pic" idx="5"/>
          </p:nvPr>
        </p:nvSpPr>
        <p:spPr>
          <a:xfrm>
            <a:off x="5151500" y="418075"/>
            <a:ext cx="1428300" cy="142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14"/>
          <p:cNvSpPr txBox="1">
            <a:spLocks noGrp="1"/>
          </p:cNvSpPr>
          <p:nvPr>
            <p:ph type="title" idx="6"/>
          </p:nvPr>
        </p:nvSpPr>
        <p:spPr>
          <a:xfrm>
            <a:off x="6931100" y="203325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200"/>
              <a:buNone/>
              <a:defRPr sz="1200">
                <a:solidFill>
                  <a:srgbClr val="2E47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cxnSp>
        <p:nvCxnSpPr>
          <p:cNvPr id="91" name="Google Shape;91;p14"/>
          <p:cNvCxnSpPr/>
          <p:nvPr/>
        </p:nvCxnSpPr>
        <p:spPr>
          <a:xfrm>
            <a:off x="6912200" y="2033250"/>
            <a:ext cx="17169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14"/>
          <p:cNvSpPr>
            <a:spLocks noGrp="1"/>
          </p:cNvSpPr>
          <p:nvPr>
            <p:ph type="pic" idx="7"/>
          </p:nvPr>
        </p:nvSpPr>
        <p:spPr>
          <a:xfrm>
            <a:off x="7056500" y="418075"/>
            <a:ext cx="1428300" cy="142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3" name="Google Shape;93;p14"/>
          <p:cNvSpPr txBox="1">
            <a:spLocks noGrp="1"/>
          </p:cNvSpPr>
          <p:nvPr>
            <p:ph type="title" idx="8"/>
          </p:nvPr>
        </p:nvSpPr>
        <p:spPr>
          <a:xfrm>
            <a:off x="3140000" y="432770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200"/>
              <a:buNone/>
              <a:defRPr sz="1200">
                <a:solidFill>
                  <a:srgbClr val="2E47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cxnSp>
        <p:nvCxnSpPr>
          <p:cNvPr id="94" name="Google Shape;94;p14"/>
          <p:cNvCxnSpPr/>
          <p:nvPr/>
        </p:nvCxnSpPr>
        <p:spPr>
          <a:xfrm>
            <a:off x="3121100" y="4327700"/>
            <a:ext cx="17169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95;p14"/>
          <p:cNvSpPr>
            <a:spLocks noGrp="1"/>
          </p:cNvSpPr>
          <p:nvPr>
            <p:ph type="pic" idx="9"/>
          </p:nvPr>
        </p:nvSpPr>
        <p:spPr>
          <a:xfrm>
            <a:off x="3265400" y="2712525"/>
            <a:ext cx="1428300" cy="142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6" name="Google Shape;96;p14"/>
          <p:cNvSpPr txBox="1">
            <a:spLocks noGrp="1"/>
          </p:cNvSpPr>
          <p:nvPr>
            <p:ph type="title" idx="13"/>
          </p:nvPr>
        </p:nvSpPr>
        <p:spPr>
          <a:xfrm>
            <a:off x="5026100" y="432770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200"/>
              <a:buNone/>
              <a:defRPr sz="1200">
                <a:solidFill>
                  <a:srgbClr val="2E47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cxnSp>
        <p:nvCxnSpPr>
          <p:cNvPr id="97" name="Google Shape;97;p14"/>
          <p:cNvCxnSpPr/>
          <p:nvPr/>
        </p:nvCxnSpPr>
        <p:spPr>
          <a:xfrm>
            <a:off x="5007200" y="4327700"/>
            <a:ext cx="17169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" name="Google Shape;98;p14"/>
          <p:cNvSpPr>
            <a:spLocks noGrp="1"/>
          </p:cNvSpPr>
          <p:nvPr>
            <p:ph type="pic" idx="14"/>
          </p:nvPr>
        </p:nvSpPr>
        <p:spPr>
          <a:xfrm>
            <a:off x="5151500" y="2712525"/>
            <a:ext cx="1428300" cy="142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9" name="Google Shape;99;p14"/>
          <p:cNvSpPr txBox="1">
            <a:spLocks noGrp="1"/>
          </p:cNvSpPr>
          <p:nvPr>
            <p:ph type="title" idx="15"/>
          </p:nvPr>
        </p:nvSpPr>
        <p:spPr>
          <a:xfrm>
            <a:off x="6931100" y="432770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200"/>
              <a:buNone/>
              <a:defRPr sz="1200">
                <a:solidFill>
                  <a:srgbClr val="2E47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None/>
              <a:defRPr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  <p:cxnSp>
        <p:nvCxnSpPr>
          <p:cNvPr id="100" name="Google Shape;100;p14"/>
          <p:cNvCxnSpPr/>
          <p:nvPr/>
        </p:nvCxnSpPr>
        <p:spPr>
          <a:xfrm>
            <a:off x="6912200" y="4327700"/>
            <a:ext cx="1716900" cy="0"/>
          </a:xfrm>
          <a:prstGeom prst="straightConnector1">
            <a:avLst/>
          </a:prstGeom>
          <a:noFill/>
          <a:ln w="19050" cap="flat" cmpd="sng">
            <a:solidFill>
              <a:srgbClr val="FF5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" name="Google Shape;101;p14"/>
          <p:cNvSpPr>
            <a:spLocks noGrp="1"/>
          </p:cNvSpPr>
          <p:nvPr>
            <p:ph type="pic" idx="16"/>
          </p:nvPr>
        </p:nvSpPr>
        <p:spPr>
          <a:xfrm>
            <a:off x="7056500" y="2712525"/>
            <a:ext cx="1428300" cy="1428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2" name="Google Shape;102;p14"/>
          <p:cNvSpPr txBox="1">
            <a:spLocks noGrp="1"/>
          </p:cNvSpPr>
          <p:nvPr>
            <p:ph type="body" idx="1"/>
          </p:nvPr>
        </p:nvSpPr>
        <p:spPr>
          <a:xfrm>
            <a:off x="334700" y="2703000"/>
            <a:ext cx="18690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●"/>
              <a:defRPr sz="1500">
                <a:solidFill>
                  <a:srgbClr val="2E475D"/>
                </a:solidFill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○"/>
              <a:defRPr sz="1500">
                <a:solidFill>
                  <a:srgbClr val="2E475D"/>
                </a:solidFill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■"/>
              <a:defRPr sz="1500">
                <a:solidFill>
                  <a:srgbClr val="2E475D"/>
                </a:solidFill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●"/>
              <a:defRPr sz="1500">
                <a:solidFill>
                  <a:srgbClr val="2E475D"/>
                </a:solidFill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○"/>
              <a:defRPr sz="1500">
                <a:solidFill>
                  <a:srgbClr val="2E475D"/>
                </a:solidFill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■"/>
              <a:defRPr sz="1500">
                <a:solidFill>
                  <a:srgbClr val="2E475D"/>
                </a:solidFill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●"/>
              <a:defRPr sz="1500">
                <a:solidFill>
                  <a:srgbClr val="2E475D"/>
                </a:solidFill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○"/>
              <a:defRPr sz="1500">
                <a:solidFill>
                  <a:srgbClr val="2E475D"/>
                </a:solidFill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500"/>
              <a:buChar char="■"/>
              <a:defRPr sz="1500">
                <a:solidFill>
                  <a:srgbClr val="2E475D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2800"/>
              <a:buFont typeface="Lexend"/>
              <a:buNone/>
              <a:defRPr sz="2800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Font typeface="Lexend"/>
              <a:buChar char="●"/>
              <a:defRPr sz="1800"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○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■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●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○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■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●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○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400"/>
              <a:buFont typeface="Lexend"/>
              <a:buChar char="■"/>
              <a:defRPr>
                <a:solidFill>
                  <a:srgbClr val="2E475D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9" r:id="rId7"/>
    <p:sldLayoutId id="2147483660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5.png"/><Relationship Id="rId6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ctrTitle"/>
          </p:nvPr>
        </p:nvSpPr>
        <p:spPr>
          <a:xfrm>
            <a:off x="480700" y="1835101"/>
            <a:ext cx="6331500" cy="16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AirSports</a:t>
            </a:r>
          </a:p>
        </p:txBody>
      </p:sp>
      <p:sp>
        <p:nvSpPr>
          <p:cNvPr id="118" name="Google Shape;118;p17"/>
          <p:cNvSpPr txBox="1">
            <a:spLocks noGrp="1"/>
          </p:cNvSpPr>
          <p:nvPr>
            <p:ph type="subTitle" idx="1"/>
          </p:nvPr>
        </p:nvSpPr>
        <p:spPr>
          <a:xfrm>
            <a:off x="480700" y="3882325"/>
            <a:ext cx="6331500" cy="5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phone is the racquet  |  Rahul Bajaj</a:t>
            </a:r>
          </a:p>
        </p:txBody>
      </p:sp>
      <p:pic>
        <p:nvPicPr>
          <p:cNvPr id="119" name="Picture 118" descr="logo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508000"/>
            <a:ext cx="3507105" cy="889000"/>
          </a:xfrm>
          <a:prstGeom prst="rect">
            <a:avLst/>
          </a:prstGeom>
        </p:spPr>
      </p:pic>
      <p:pic>
        <p:nvPicPr>
          <p:cNvPr id="120" name="Picture 119" descr="c-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889000"/>
            <a:ext cx="39116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8138100" cy="10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dirty="0" b="1" sz="1600"/>
              <a:t>Motion games are fun, but they are locked behind expensive hardware.</a:t>
            </a:r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dirty="0" sz="1600"/>
              <a:t>Kinect and the Wii have been discontinued, so most homes, hostels and colleges have nothing to play on.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2600" y="2311400"/>
            <a:ext cx="2159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E475D"/>
                </a:solidFill>
                <a:latin typeface="Lexend"/>
              </a:rPr>
              <a:t>Console sports need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222500" y="2260600"/>
            <a:ext cx="1397000" cy="431800"/>
          </a:xfrm>
          <a:prstGeom prst="roundRect">
            <a:avLst/>
          </a:prstGeom>
          <a:solidFill>
            <a:srgbClr val="FF5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Lexend"/>
              </a:rPr>
              <a:t>Console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848100" y="2260600"/>
            <a:ext cx="1397000" cy="431800"/>
          </a:xfrm>
          <a:prstGeom prst="roundRect">
            <a:avLst/>
          </a:prstGeom>
          <a:solidFill>
            <a:srgbClr val="FF5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Lexend"/>
              </a:rPr>
              <a:t>Motion controllers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632200" y="2286000"/>
            <a:ext cx="203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E475D"/>
                </a:solidFill>
                <a:latin typeface="Lexend"/>
              </a:rPr>
              <a:t>+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473700" y="2260600"/>
            <a:ext cx="1397000" cy="431800"/>
          </a:xfrm>
          <a:prstGeom prst="roundRect">
            <a:avLst/>
          </a:prstGeom>
          <a:solidFill>
            <a:srgbClr val="FF5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Lexend"/>
              </a:rPr>
              <a:t>Camera or sensor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257800" y="2286000"/>
            <a:ext cx="203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E475D"/>
                </a:solidFill>
                <a:latin typeface="Lexend"/>
              </a:rPr>
              <a:t>+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099300" y="2260600"/>
            <a:ext cx="1397000" cy="431800"/>
          </a:xfrm>
          <a:prstGeom prst="roundRect">
            <a:avLst/>
          </a:prstGeom>
          <a:solidFill>
            <a:srgbClr val="FF5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Lexend"/>
              </a:rPr>
              <a:t>TV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883400" y="2286000"/>
            <a:ext cx="203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E475D"/>
                </a:solidFill>
                <a:latin typeface="Lexend"/>
              </a:rPr>
              <a:t>+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82600" y="3009900"/>
            <a:ext cx="2159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E475D"/>
                </a:solidFill>
                <a:latin typeface="Lexend"/>
              </a:rPr>
              <a:t>AirSports needs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222500" y="2959100"/>
            <a:ext cx="3022600" cy="431800"/>
          </a:xfrm>
          <a:prstGeom prst="roundRect">
            <a:avLst/>
          </a:prstGeom>
          <a:solidFill>
            <a:srgbClr val="B0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2E475D"/>
                </a:solidFill>
                <a:latin typeface="Lexend"/>
              </a:rPr>
              <a:t>A phone you already own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473700" y="2959100"/>
            <a:ext cx="3022600" cy="431800"/>
          </a:xfrm>
          <a:prstGeom prst="roundRect">
            <a:avLst/>
          </a:prstGeom>
          <a:solidFill>
            <a:srgbClr val="B0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2E475D"/>
                </a:solidFill>
                <a:latin typeface="Lexend"/>
              </a:rPr>
              <a:t>Any screen with a browser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257800" y="2984500"/>
            <a:ext cx="203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E475D"/>
                </a:solidFill>
                <a:latin typeface="Lexend"/>
              </a:rPr>
              <a:t>+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2600" y="3708400"/>
            <a:ext cx="812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E475D"/>
                </a:solidFill>
                <a:latin typeface="Lexend"/>
              </a:rPr>
              <a:t>Everyone already carries a smartphone and sits near a screen, but phone games are played alone, heads 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7973400" cy="5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b="1" sz="1600">
                <a:solidFill>
                  <a:srgbClr val="2E475D"/>
                </a:solidFill>
                <a:highlight>
                  <a:srgbClr val="FFFFFF"/>
                </a:highlight>
              </a:rPr>
              <a:t>Any screen becomes the console. Any smartphone becomes the racquet.</a:t>
            </a:r>
          </a:p>
        </p:txBody>
      </p:sp>
      <p:pic>
        <p:nvPicPr>
          <p:cNvPr id="149" name="Picture 148" descr="c-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651000"/>
            <a:ext cx="2489200" cy="1400175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508000" y="3086100"/>
            <a:ext cx="2489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E475D"/>
                </a:solidFill>
                <a:latin typeface="Lexend"/>
              </a:rPr>
              <a:t>1  Open on any screen</a:t>
            </a:r>
          </a:p>
        </p:txBody>
      </p:sp>
      <p:sp>
        <p:nvSpPr>
          <p:cNvPr id="151" name="Right Arrow 150"/>
          <p:cNvSpPr/>
          <p:nvPr/>
        </p:nvSpPr>
        <p:spPr>
          <a:xfrm>
            <a:off x="3035300" y="2184400"/>
            <a:ext cx="254000" cy="279400"/>
          </a:xfrm>
          <a:prstGeom prst="rightArrow">
            <a:avLst/>
          </a:prstGeom>
          <a:solidFill>
            <a:srgbClr val="FF5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</a:p>
        </p:txBody>
      </p:sp>
      <p:pic>
        <p:nvPicPr>
          <p:cNvPr id="152" name="Picture 151" descr="c-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400" y="1651000"/>
            <a:ext cx="2489200" cy="1400175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3327400" y="3086100"/>
            <a:ext cx="2489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E475D"/>
                </a:solidFill>
                <a:latin typeface="Lexend"/>
              </a:rPr>
              <a:t>2  Scan the QR code</a:t>
            </a:r>
          </a:p>
        </p:txBody>
      </p:sp>
      <p:sp>
        <p:nvSpPr>
          <p:cNvPr id="154" name="Right Arrow 153"/>
          <p:cNvSpPr/>
          <p:nvPr/>
        </p:nvSpPr>
        <p:spPr>
          <a:xfrm>
            <a:off x="5854700" y="2184400"/>
            <a:ext cx="254000" cy="279400"/>
          </a:xfrm>
          <a:prstGeom prst="rightArrow">
            <a:avLst/>
          </a:prstGeom>
          <a:solidFill>
            <a:srgbClr val="FF5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</a:p>
        </p:txBody>
      </p:sp>
      <p:pic>
        <p:nvPicPr>
          <p:cNvPr id="155" name="Picture 154" descr="c-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800" y="1651000"/>
            <a:ext cx="2489200" cy="1400175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146800" y="3086100"/>
            <a:ext cx="2489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E475D"/>
                </a:solidFill>
                <a:latin typeface="Lexend"/>
              </a:rPr>
              <a:t>3  Swing to play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08000" y="3683000"/>
            <a:ext cx="889000" cy="381000"/>
          </a:xfrm>
          <a:prstGeom prst="roundRect">
            <a:avLst/>
          </a:prstGeom>
          <a:solidFill>
            <a:srgbClr val="B0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2E475D"/>
                </a:solidFill>
                <a:latin typeface="Lexend"/>
              </a:rPr>
              <a:t>No app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524000" y="3683000"/>
            <a:ext cx="1143000" cy="381000"/>
          </a:xfrm>
          <a:prstGeom prst="roundRect">
            <a:avLst/>
          </a:prstGeom>
          <a:solidFill>
            <a:srgbClr val="B0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2E475D"/>
                </a:solidFill>
                <a:latin typeface="Lexend"/>
              </a:rPr>
              <a:t>No account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2794000" y="3683000"/>
            <a:ext cx="1143000" cy="381000"/>
          </a:xfrm>
          <a:prstGeom prst="roundRect">
            <a:avLst/>
          </a:prstGeom>
          <a:solidFill>
            <a:srgbClr val="B0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2E475D"/>
                </a:solidFill>
                <a:latin typeface="Lexend"/>
              </a:rPr>
              <a:t>No console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064000" y="3683000"/>
            <a:ext cx="1587500" cy="381000"/>
          </a:xfrm>
          <a:prstGeom prst="roundRect">
            <a:avLst/>
          </a:prstGeom>
          <a:solidFill>
            <a:srgbClr val="FF5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Lexend"/>
              </a:rPr>
              <a:t>Solo vs computer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778500" y="3683000"/>
            <a:ext cx="2032000" cy="381000"/>
          </a:xfrm>
          <a:prstGeom prst="roundRect">
            <a:avLst/>
          </a:prstGeom>
          <a:solidFill>
            <a:srgbClr val="FF5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Lexend"/>
              </a:rPr>
              <a:t>2 players, split screen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08000" y="4165600"/>
            <a:ext cx="812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E475D"/>
                </a:solidFill>
                <a:latin typeface="Lexend"/>
              </a:rPr>
              <a:t>Most phone-as-controller games turn the phone into a touch gamepad. AirSports reads your actual swing.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486150" y="1061850"/>
            <a:ext cx="29859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Size</a:t>
            </a:r>
            <a:endParaRPr/>
          </a:p>
        </p:txBody>
      </p:sp>
      <p:sp>
        <p:nvSpPr>
          <p:cNvPr id="170" name="Google Shape;170;p22"/>
          <p:cNvSpPr txBox="1">
            <a:spLocks noGrp="1"/>
          </p:cNvSpPr>
          <p:nvPr>
            <p:ph type="body" idx="1"/>
          </p:nvPr>
        </p:nvSpPr>
        <p:spPr>
          <a:xfrm>
            <a:off x="486150" y="1776125"/>
            <a:ext cx="2985900" cy="8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dirty="0" sz="1400">
                <a:solidFill>
                  <a:srgbClr val="2E475D"/>
                </a:solidFill>
                <a:highlight>
                  <a:srgbClr val="FFFFFF"/>
                </a:highlight>
              </a:rPr>
              <a:t>Anyone with a phone and a screen is a potential player. We start with Indian colleges.</a:t>
            </a:r>
          </a:p>
        </p:txBody>
      </p:sp>
      <p:graphicFrame>
        <p:nvGraphicFramePr>
          <p:cNvPr id="171" name="Chart 170"/>
          <p:cNvGraphicFramePr>
            <a:graphicFrameLocks noGrp="1"/>
          </p:cNvGraphicFramePr>
          <p:nvPr/>
        </p:nvGraphicFramePr>
        <p:xfrm>
          <a:off x="381000" y="2768600"/>
          <a:ext cx="3492500" cy="18415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2" name="TextBox 171"/>
          <p:cNvSpPr txBox="1"/>
          <p:nvPr/>
        </p:nvSpPr>
        <p:spPr>
          <a:xfrm>
            <a:off x="5397500" y="698500"/>
            <a:ext cx="3429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Lexend"/>
              </a:rPr>
              <a:t>500M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397500" y="1485900"/>
            <a:ext cx="3429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Lexend"/>
              </a:rPr>
              <a:t>gamers in India in 2025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397500" y="2349500"/>
            <a:ext cx="3429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Lexend"/>
              </a:rPr>
              <a:t>95%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397500" y="3136900"/>
            <a:ext cx="3429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Lexend"/>
              </a:rPr>
              <a:t>of them play on mobile, so the controller is already in their pocket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397500" y="4191000"/>
            <a:ext cx="3429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Lexend"/>
              </a:rPr>
              <a:t>Sources: Niko Partners, The Indian Games Market 2025; SkyQuest, Motion Sensing Games Market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4911300" y="665700"/>
            <a:ext cx="3980402" cy="3770102"/>
          </a:xfrm>
          <a:prstGeom prst="rect">
            <a:avLst/>
          </a:prstGeom>
        </p:spPr>
      </p:pic>
      <p:sp>
        <p:nvSpPr>
          <p:cNvPr id="182" name="Google Shape;182;p23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title"/>
          </p:nvPr>
        </p:nvSpPr>
        <p:spPr>
          <a:xfrm>
            <a:off x="334700" y="1248850"/>
            <a:ext cx="41502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Product</a:t>
            </a:r>
            <a:endParaRPr dirty="0"/>
          </a:p>
        </p:txBody>
      </p:sp>
      <p:sp>
        <p:nvSpPr>
          <p:cNvPr id="184" name="Google Shape;184;p23"/>
          <p:cNvSpPr txBox="1">
            <a:spLocks noGrp="1"/>
          </p:cNvSpPr>
          <p:nvPr>
            <p:ph type="body" idx="1"/>
          </p:nvPr>
        </p:nvSpPr>
        <p:spPr>
          <a:xfrm>
            <a:off x="334700" y="2083050"/>
            <a:ext cx="4150200" cy="12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500" dirty="0" b="1"/>
              <a:t>A real tennis match, played with a real swing.</a:t>
            </a:r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500" dirty="0"/>
              <a:t>Swing harder to hit harder. Tilt the phone to angle the shot.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419100" y="3327400"/>
            <a:ext cx="1905000" cy="406400"/>
          </a:xfrm>
          <a:prstGeom prst="roundRect">
            <a:avLst/>
          </a:prstGeom>
          <a:solidFill>
            <a:srgbClr val="B0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2E475D"/>
                </a:solidFill>
                <a:latin typeface="Lexend"/>
              </a:rPr>
              <a:t>3D court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2451100" y="3327400"/>
            <a:ext cx="1905000" cy="406400"/>
          </a:xfrm>
          <a:prstGeom prst="roundRect">
            <a:avLst/>
          </a:prstGeom>
          <a:solidFill>
            <a:srgbClr val="B0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2E475D"/>
                </a:solidFill>
                <a:latin typeface="Lexend"/>
              </a:rPr>
              <a:t>Live score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19100" y="3835400"/>
            <a:ext cx="1905000" cy="406400"/>
          </a:xfrm>
          <a:prstGeom prst="roundRect">
            <a:avLst/>
          </a:prstGeom>
          <a:solidFill>
            <a:srgbClr val="B0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2E475D"/>
                </a:solidFill>
                <a:latin typeface="Lexend"/>
              </a:rPr>
              <a:t>First-person view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2451100" y="3835400"/>
            <a:ext cx="1905000" cy="406400"/>
          </a:xfrm>
          <a:prstGeom prst="roundRect">
            <a:avLst/>
          </a:prstGeom>
          <a:solidFill>
            <a:srgbClr val="B0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2E475D"/>
                </a:solidFill>
                <a:latin typeface="Lexend"/>
              </a:rPr>
              <a:t>Rally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7973400" cy="5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E475D"/>
              </a:buClr>
              <a:buSzPts val="1800"/>
              <a:buNone/>
            </a:pPr>
            <a:r>
              <a:rPr lang="en" dirty="0" b="1" sz="1500">
                <a:solidFill>
                  <a:srgbClr val="2E475D"/>
                </a:solidFill>
                <a:highlight>
                  <a:srgbClr val="FFFFFF"/>
                </a:highlight>
              </a:rPr>
              <a:t>Free to play, </a:t>
            </a:r>
            <a:r>
              <a:rPr lang="en" dirty="0" b="0" sz="1500">
                <a:solidFill>
                  <a:srgbClr val="2E475D"/>
                </a:solidFill>
                <a:highlight>
                  <a:srgbClr val="FFFFFF"/>
                </a:highlight>
              </a:rPr>
              <a:t>so anyone can try it in seconds. Revenue comes from where people play together.</a:t>
            </a:r>
          </a:p>
        </p:txBody>
      </p:sp>
      <p:sp>
        <p:nvSpPr>
          <p:cNvPr id="191" name="Google Shape;191;p24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92" name="Google Shape;192;p24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Model</a:t>
            </a:r>
            <a:endParaRPr/>
          </a:p>
        </p:txBody>
      </p:sp>
      <p:pic>
        <p:nvPicPr>
          <p:cNvPr id="193" name="Picture 192" descr="c-cou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587500"/>
            <a:ext cx="2540000" cy="1428750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508000" y="3048000"/>
            <a:ext cx="254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E475D"/>
                </a:solidFill>
                <a:latin typeface="Lexend"/>
              </a:rPr>
              <a:t>Sponsored courts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08000" y="3327400"/>
            <a:ext cx="254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E475D"/>
                </a:solidFill>
                <a:latin typeface="Lexend"/>
              </a:rPr>
              <a:t>Brands buy the boards around the court, like a real stadium.</a:t>
            </a:r>
          </a:p>
        </p:txBody>
      </p:sp>
      <p:pic>
        <p:nvPicPr>
          <p:cNvPr id="196" name="Picture 195" descr="c-ev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1587500"/>
            <a:ext cx="2540000" cy="1428750"/>
          </a:xfrm>
          <a:prstGeom prst="rect">
            <a:avLst/>
          </a:prstGeom>
        </p:spPr>
      </p:pic>
      <p:sp>
        <p:nvSpPr>
          <p:cNvPr id="197" name="TextBox 196"/>
          <p:cNvSpPr txBox="1"/>
          <p:nvPr/>
        </p:nvSpPr>
        <p:spPr>
          <a:xfrm>
            <a:off x="3276600" y="3048000"/>
            <a:ext cx="254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E475D"/>
                </a:solidFill>
                <a:latin typeface="Lexend"/>
              </a:rPr>
              <a:t>Event packs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276600" y="3327400"/>
            <a:ext cx="254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E475D"/>
                </a:solidFill>
                <a:latin typeface="Lexend"/>
              </a:rPr>
              <a:t>Paid tournament mode for college fests, cafes and offices.</a:t>
            </a:r>
          </a:p>
        </p:txBody>
      </p:sp>
      <p:pic>
        <p:nvPicPr>
          <p:cNvPr id="199" name="Picture 198" descr="c-spor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200" y="1587500"/>
            <a:ext cx="2540000" cy="142875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6045200" y="3048000"/>
            <a:ext cx="254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E475D"/>
                </a:solidFill>
                <a:latin typeface="Lexend"/>
              </a:rPr>
              <a:t>More sports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045200" y="3327400"/>
            <a:ext cx="254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E475D"/>
                </a:solidFill>
                <a:latin typeface="Lexend"/>
              </a:rPr>
              <a:t>Tennis stays free. Badminton, table tennis and more as paid packs.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8000" y="4127500"/>
            <a:ext cx="812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E475D"/>
                </a:solidFill>
                <a:latin typeface="Lexend"/>
              </a:rPr>
              <a:t>Launch: </a:t>
            </a:r>
            <a:r>
              <a:rPr sz="1300" b="0">
                <a:solidFill>
                  <a:srgbClr val="2E475D"/>
                </a:solidFill>
                <a:latin typeface="Lexend"/>
              </a:rPr>
              <a:t>college fests and hostels first, then cafes and offices.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Adoption</a:t>
            </a:r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5080000" cy="24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sz="14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rPr>
              <a:t>People already love swinging at a screen.</a:t>
            </a:r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rPr>
              <a:t>Wii Sports sold about 82.9 million copies. The demand is proven; the hardware was the barrier.</a:t>
            </a:r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rPr>
              <a:t>Every phone in this room has the motion sensors AirSports needs.</a:t>
            </a:r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E475D"/>
                </a:solidFill>
                <a:latin typeface="Lexend Medium"/>
                <a:ea typeface="Lexend Medium"/>
                <a:cs typeface="Lexend Medium"/>
                <a:sym typeface="Lexend Medium"/>
              </a:rPr>
              <a:t>Traction so far: [__ playtesters, __ matches played]</a:t>
            </a:r>
          </a:p>
        </p:txBody>
      </p:sp>
      <p:pic>
        <p:nvPicPr>
          <p:cNvPr id="200" name="Picture 199" descr="c-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1079500"/>
            <a:ext cx="1692482" cy="2159000"/>
          </a:xfrm>
          <a:prstGeom prst="rect">
            <a:avLst/>
          </a:prstGeom>
        </p:spPr>
      </p:pic>
      <p:pic>
        <p:nvPicPr>
          <p:cNvPr id="201" name="Picture 200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524000"/>
            <a:ext cx="1206500" cy="1206500"/>
          </a:xfrm>
          <a:prstGeom prst="rect">
            <a:avLst/>
          </a:prstGeom>
        </p:spPr>
      </p:pic>
      <p:sp>
        <p:nvSpPr>
          <p:cNvPr id="202" name="TextBox 201"/>
          <p:cNvSpPr txBox="1"/>
          <p:nvPr/>
        </p:nvSpPr>
        <p:spPr>
          <a:xfrm>
            <a:off x="7429500" y="2768600"/>
            <a:ext cx="15875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2E475D"/>
                </a:solidFill>
                <a:latin typeface="Lexend"/>
              </a:rPr>
              <a:t>Scan and play now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08000" y="3581400"/>
            <a:ext cx="152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E475D"/>
                </a:solidFill>
                <a:latin typeface="Lexend"/>
              </a:rPr>
              <a:t>Rollout</a:t>
            </a:r>
          </a:p>
        </p:txBody>
      </p:sp>
      <p:sp>
        <p:nvSpPr>
          <p:cNvPr id="204" name="Chevron 203"/>
          <p:cNvSpPr/>
          <p:nvPr/>
        </p:nvSpPr>
        <p:spPr>
          <a:xfrm>
            <a:off x="1397000" y="3492500"/>
            <a:ext cx="1778000" cy="508000"/>
          </a:xfrm>
          <a:prstGeom prst="chevron">
            <a:avLst/>
          </a:prstGeom>
          <a:solidFill>
            <a:srgbClr val="FF5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Lexend"/>
              </a:rPr>
              <a:t>College fests</a:t>
            </a:r>
          </a:p>
        </p:txBody>
      </p:sp>
      <p:sp>
        <p:nvSpPr>
          <p:cNvPr id="205" name="Chevron 204"/>
          <p:cNvSpPr/>
          <p:nvPr/>
        </p:nvSpPr>
        <p:spPr>
          <a:xfrm>
            <a:off x="3238500" y="3492500"/>
            <a:ext cx="1778000" cy="508000"/>
          </a:xfrm>
          <a:prstGeom prst="chevron">
            <a:avLst/>
          </a:prstGeom>
          <a:solidFill>
            <a:srgbClr val="B0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2E475D"/>
                </a:solidFill>
                <a:latin typeface="Lexend"/>
              </a:rPr>
              <a:t>Hostels</a:t>
            </a:r>
          </a:p>
        </p:txBody>
      </p:sp>
      <p:sp>
        <p:nvSpPr>
          <p:cNvPr id="206" name="Chevron 205"/>
          <p:cNvSpPr/>
          <p:nvPr/>
        </p:nvSpPr>
        <p:spPr>
          <a:xfrm>
            <a:off x="5080000" y="3492500"/>
            <a:ext cx="1778000" cy="508000"/>
          </a:xfrm>
          <a:prstGeom prst="chevron">
            <a:avLst/>
          </a:prstGeom>
          <a:solidFill>
            <a:srgbClr val="B0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2E475D"/>
                </a:solidFill>
                <a:latin typeface="Lexend"/>
              </a:rPr>
              <a:t>Cafes</a:t>
            </a:r>
          </a:p>
        </p:txBody>
      </p:sp>
      <p:sp>
        <p:nvSpPr>
          <p:cNvPr id="207" name="Chevron 206"/>
          <p:cNvSpPr/>
          <p:nvPr/>
        </p:nvSpPr>
        <p:spPr>
          <a:xfrm>
            <a:off x="6921500" y="3492500"/>
            <a:ext cx="1778000" cy="508000"/>
          </a:xfrm>
          <a:prstGeom prst="chevron">
            <a:avLst/>
          </a:prstGeom>
          <a:solidFill>
            <a:srgbClr val="B0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2E475D"/>
                </a:solidFill>
                <a:latin typeface="Lexend"/>
              </a:rPr>
              <a:t>Offices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sldNum" idx="12"/>
          </p:nvPr>
        </p:nvSpPr>
        <p:spPr>
          <a:xfrm>
            <a:off x="170125" y="4645104"/>
            <a:ext cx="20484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484800" y="173250"/>
            <a:ext cx="8058600" cy="6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</a:t>
            </a:r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body" idx="1"/>
          </p:nvPr>
        </p:nvSpPr>
        <p:spPr>
          <a:xfrm>
            <a:off x="484800" y="1042700"/>
            <a:ext cx="8138100" cy="8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b="1" sz="1500">
                <a:solidFill>
                  <a:srgbClr val="2E475D"/>
                </a:solidFill>
              </a:rPr>
              <a:t>How AirSports compares with motion games people know</a:t>
            </a:r>
          </a:p>
        </p:txBody>
      </p:sp>
      <p:graphicFrame>
        <p:nvGraphicFramePr>
          <p:cNvPr id="207" name="Table 206"/>
          <p:cNvGraphicFramePr>
            <a:graphicFrameLocks noGrp="1"/>
          </p:cNvGraphicFramePr>
          <p:nvPr/>
        </p:nvGraphicFramePr>
        <p:xfrm>
          <a:off x="508000" y="1714500"/>
          <a:ext cx="8128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524000"/>
                <a:gridCol w="1651000"/>
                <a:gridCol w="1524000"/>
                <a:gridCol w="1524000"/>
              </a:tblGrid>
              <a:tr h="3810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2E4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xend"/>
                        </a:rPr>
                        <a:t>AirSports</a:t>
                      </a:r>
                    </a:p>
                  </a:txBody>
                  <a:tcPr anchor="ctr">
                    <a:solidFill>
                      <a:srgbClr val="FF5C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xend"/>
                        </a:rPr>
                        <a:t>Switch Sports</a:t>
                      </a:r>
                    </a:p>
                  </a:txBody>
                  <a:tcPr anchor="ctr">
                    <a:solidFill>
                      <a:srgbClr val="2E4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xend"/>
                        </a:rPr>
                        <a:t>Xbox Kinect</a:t>
                      </a:r>
                    </a:p>
                  </a:txBody>
                  <a:tcPr anchor="ctr">
                    <a:solidFill>
                      <a:srgbClr val="2E4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Lexend"/>
                        </a:rPr>
                        <a:t>AirConsole</a:t>
                      </a:r>
                    </a:p>
                  </a:txBody>
                  <a:tcPr anchor="ctr">
                    <a:solidFill>
                      <a:srgbClr val="2E475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475D"/>
                          </a:solidFill>
                          <a:latin typeface="Lexend"/>
                        </a:rPr>
                        <a:t>Extra hardware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475D"/>
                          </a:solidFill>
                          <a:latin typeface="Lexend"/>
                        </a:rPr>
                        <a:t>None</a:t>
                      </a:r>
                    </a:p>
                  </a:txBody>
                  <a:tcPr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E475D"/>
                          </a:solidFill>
                          <a:latin typeface="Lexend"/>
                        </a:rPr>
                        <a:t>Console + Joy-Cons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E475D"/>
                          </a:solidFill>
                          <a:latin typeface="Lexend"/>
                        </a:rPr>
                        <a:t>Xbox + Kinect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E475D"/>
                          </a:solidFill>
                          <a:latin typeface="Lexend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475D"/>
                          </a:solidFill>
                          <a:latin typeface="Lexend"/>
                        </a:rPr>
                        <a:t>Setup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475D"/>
                          </a:solidFill>
                          <a:latin typeface="Lexend"/>
                        </a:rPr>
                        <a:t>Scan a QR code</a:t>
                      </a:r>
                    </a:p>
                  </a:txBody>
                  <a:tcPr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E475D"/>
                          </a:solidFill>
                          <a:latin typeface="Lexend"/>
                        </a:rPr>
                        <a:t>Buy the game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E475D"/>
                          </a:solidFill>
                          <a:latin typeface="Lexend"/>
                        </a:rPr>
                        <a:t>Buy and set 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E475D"/>
                          </a:solidFill>
                          <a:latin typeface="Lexend"/>
                        </a:rPr>
                        <a:t>Browser or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475D"/>
                          </a:solidFill>
                          <a:latin typeface="Lexend"/>
                        </a:rPr>
                        <a:t>Tracks a real swing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475D"/>
                          </a:solidFill>
                          <a:latin typeface="Lexend"/>
                        </a:rPr>
                        <a:t>Yes</a:t>
                      </a:r>
                    </a:p>
                  </a:txBody>
                  <a:tcPr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E475D"/>
                          </a:solidFill>
                          <a:latin typeface="Lexend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E475D"/>
                          </a:solidFill>
                          <a:latin typeface="Lexend"/>
                        </a:rPr>
                        <a:t>Yes (camera)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E475D"/>
                          </a:solidFill>
                          <a:latin typeface="Lexend"/>
                        </a:rPr>
                        <a:t>Mostly touch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475D"/>
                          </a:solidFill>
                          <a:latin typeface="Lexend"/>
                        </a:rPr>
                        <a:t>Still sold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475D"/>
                          </a:solidFill>
                          <a:latin typeface="Lexend"/>
                        </a:rPr>
                        <a:t>Yes, free</a:t>
                      </a:r>
                    </a:p>
                  </a:txBody>
                  <a:tcPr anchor="ctr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E475D"/>
                          </a:solidFill>
                          <a:latin typeface="Lexend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E475D"/>
                          </a:solidFill>
                          <a:latin typeface="Lexend"/>
                        </a:rPr>
                        <a:t>Discontinued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E475D"/>
                          </a:solidFill>
                          <a:latin typeface="Lexend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8" name="TextBox 207"/>
          <p:cNvSpPr txBox="1"/>
          <p:nvPr/>
        </p:nvSpPr>
        <p:spPr>
          <a:xfrm>
            <a:off x="508000" y="3873500"/>
            <a:ext cx="8128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E475D"/>
                </a:solidFill>
                <a:latin typeface="Lexend"/>
              </a:rPr>
              <a:t>Where we're behind: </a:t>
            </a:r>
            <a:r>
              <a:rPr sz="1200" b="0">
                <a:solidFill>
                  <a:srgbClr val="2E475D"/>
                </a:solidFill>
                <a:latin typeface="Lexend"/>
              </a:rPr>
              <a:t>phone sensors are less precise than Joy-Cons, we have one sport today, and we're a new name with no users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>
            <a:spLocks noGrp="1"/>
          </p:cNvSpPr>
          <p:nvPr>
            <p:ph type="title"/>
          </p:nvPr>
        </p:nvSpPr>
        <p:spPr>
          <a:xfrm>
            <a:off x="3140000" y="2033250"/>
            <a:ext cx="1679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Rahul Bajaj</a:t>
            </a:r>
          </a:p>
        </p:txBody>
      </p:sp>
      <p:sp>
        <p:nvSpPr>
          <p:cNvPr id="218" name="Google Shape;218;p27"/>
          <p:cNvSpPr txBox="1">
            <a:spLocks noGrp="1"/>
          </p:cNvSpPr>
          <p:nvPr>
            <p:ph type="sldNum" idx="12"/>
          </p:nvPr>
        </p:nvSpPr>
        <p:spPr>
          <a:xfrm>
            <a:off x="170125" y="4645100"/>
            <a:ext cx="620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title" idx="2"/>
          </p:nvPr>
        </p:nvSpPr>
        <p:spPr>
          <a:xfrm>
            <a:off x="334700" y="571725"/>
            <a:ext cx="2157300" cy="193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475D"/>
                </a:solidFill>
              </a:rPr>
              <a:t>Our Team</a:t>
            </a:r>
            <a:endParaRPr>
              <a:solidFill>
                <a:srgbClr val="2E475D"/>
              </a:solidFill>
            </a:endParaRPr>
          </a:p>
        </p:txBody>
      </p:sp>
      <p:pic>
        <p:nvPicPr>
          <p:cNvPr id="220" name="Google Shape;220;p27"/>
          <p:cNvPicPr preferRelativeResize="0">
            <a:picLocks noGrp="1"/>
          </p:cNvPicPr>
          <p:nvPr>
            <p:ph type="pic" idx="3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3265400" y="418075"/>
            <a:ext cx="1428300" cy="1428300"/>
          </a:xfrm>
          <a:prstGeom prst="ellipse">
            <a:avLst/>
          </a:prstGeom>
        </p:spPr>
      </p:pic>
      <p:sp>
        <p:nvSpPr>
          <p:cNvPr id="231" name="Google Shape;231;p27"/>
          <p:cNvSpPr txBox="1">
            <a:spLocks noGrp="1"/>
          </p:cNvSpPr>
          <p:nvPr>
            <p:ph type="body" idx="1"/>
          </p:nvPr>
        </p:nvSpPr>
        <p:spPr>
          <a:xfrm>
            <a:off x="334700" y="2703000"/>
            <a:ext cx="1869000" cy="14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student project, built by one person.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080000" y="571500"/>
            <a:ext cx="3556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E475D"/>
                </a:solidFill>
                <a:latin typeface="Lexend"/>
              </a:rPr>
              <a:t>Built so far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E475D"/>
                </a:solidFill>
                <a:latin typeface="Lexend"/>
              </a:rPr>
              <a:t>The 3D tennis game, the multiplayer server and the phone controller, all solo.</a:t>
            </a:r>
          </a:p>
        </p:txBody>
      </p:sp>
      <p:pic>
        <p:nvPicPr>
          <p:cNvPr id="233" name="Picture 232" descr="c-pa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2603500"/>
            <a:ext cx="1955800" cy="1397000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5080000" y="2540000"/>
            <a:ext cx="3556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E475D"/>
                </a:solidFill>
                <a:latin typeface="Lexend"/>
              </a:rPr>
              <a:t>Looking for teammates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E475D"/>
                </a:solidFill>
                <a:latin typeface="Lexend"/>
              </a:rPr>
              <a:t>Someone for marketing and partnerships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E475D"/>
                </a:solidFill>
                <a:latin typeface="Lexend"/>
              </a:rPr>
              <a:t>A 3D artist for new sports and courts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Scan to play: airsports.raulbazaz.me</a:t>
            </a:r>
          </a:p>
        </p:txBody>
      </p:sp>
      <p:pic>
        <p:nvPicPr>
          <p:cNvPr id="4" name="Picture 3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397000"/>
            <a:ext cx="2159000" cy="2159000"/>
          </a:xfrm>
          <a:prstGeom prst="rect">
            <a:avLst/>
          </a:prstGeom>
        </p:spPr>
      </p:pic>
      <p:pic>
        <p:nvPicPr>
          <p:cNvPr id="5" name="Picture 4" descr="logo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508000"/>
            <a:ext cx="3507105" cy="88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On-screen Show (16:9)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Lexend Medium</vt:lpstr>
      <vt:lpstr>Arial</vt:lpstr>
      <vt:lpstr>Lexend</vt:lpstr>
      <vt:lpstr>Simple Light</vt:lpstr>
      <vt:lpstr>Title of Presentation Goes Here</vt:lpstr>
      <vt:lpstr>Problem</vt:lpstr>
      <vt:lpstr>Solution</vt:lpstr>
      <vt:lpstr>Market Size</vt:lpstr>
      <vt:lpstr>Product</vt:lpstr>
      <vt:lpstr>Business Model</vt:lpstr>
      <vt:lpstr>Market Adoption</vt:lpstr>
      <vt:lpstr>Competition</vt:lpstr>
      <vt:lpstr>First Last,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Dhairya sharma</dc:creator>
  <cp:lastModifiedBy>Dhairya sharma</cp:lastModifiedBy>
  <cp:revision>3</cp:revision>
  <dcterms:modified xsi:type="dcterms:W3CDTF">2026-10-11T09:12:01Z</dcterms:modified>
</cp:coreProperties>
</file>